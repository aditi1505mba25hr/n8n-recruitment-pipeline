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60" r:id="rId9"/>
    <p:sldId id="268" r:id="rId10"/>
    <p:sldId id="261" r:id="rId11"/>
    <p:sldId id="262" r:id="rId12"/>
    <p:sldId id="272" r:id="rId13"/>
    <p:sldId id="263" r:id="rId14"/>
    <p:sldId id="264" r:id="rId15"/>
    <p:sldId id="265" r:id="rId16"/>
    <p:sldId id="266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18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7D4-614B-8F5B-684F45AFBC5F}"/>
              </c:ext>
            </c:extLst>
          </c:dPt>
          <c:dPt>
            <c:idx val="1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7D4-614B-8F5B-684F45AFBC5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7D4-614B-8F5B-684F45AFBC5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7D4-614B-8F5B-684F45AFBC5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Shortlisted (10)</c:v>
                </c:pt>
                <c:pt idx="1">
                  <c:v>General Pool (13)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7D4-614B-8F5B-684F45AFBC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Years of Experience</c:v>
                </c:pt>
              </c:strCache>
            </c:strRef>
          </c:tx>
          <c:spPr>
            <a:solidFill>
              <a:srgbClr val="546E7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F88-E041-A339-2F33DD963E12}"/>
              </c:ext>
            </c:extLst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88-E041-A339-2F33DD963E12}"/>
              </c:ext>
            </c:extLst>
          </c:dPt>
          <c:dPt>
            <c:idx val="2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88-E041-A339-2F33DD963E12}"/>
              </c:ext>
            </c:extLst>
          </c:dPt>
          <c:dPt>
            <c:idx val="3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88-E041-A339-2F33DD963E12}"/>
              </c:ext>
            </c:extLst>
          </c:dPt>
          <c:dPt>
            <c:idx val="4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F88-E041-A339-2F33DD963E12}"/>
              </c:ext>
            </c:extLst>
          </c:dPt>
          <c:dPt>
            <c:idx val="5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F88-E041-A339-2F33DD963E12}"/>
              </c:ext>
            </c:extLst>
          </c:dPt>
          <c:dPt>
            <c:idx val="6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F88-E041-A339-2F33DD963E12}"/>
              </c:ext>
            </c:extLst>
          </c:dPt>
          <c:dPt>
            <c:idx val="7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F88-E041-A339-2F33DD963E12}"/>
              </c:ext>
            </c:extLst>
          </c:dPt>
          <c:dPt>
            <c:idx val="8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F88-E041-A339-2F33DD963E12}"/>
              </c:ext>
            </c:extLst>
          </c:dPt>
          <c:dPt>
            <c:idx val="9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F88-E041-A339-2F33DD963E12}"/>
              </c:ext>
            </c:extLst>
          </c:dPt>
          <c:dPt>
            <c:idx val="10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0F88-E041-A339-2F33DD963E12}"/>
              </c:ext>
            </c:extLst>
          </c:dPt>
          <c:dPt>
            <c:idx val="11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0F88-E041-A339-2F33DD963E12}"/>
              </c:ext>
            </c:extLst>
          </c:dPt>
          <c:dPt>
            <c:idx val="12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0F88-E041-A339-2F33DD963E12}"/>
              </c:ext>
            </c:extLst>
          </c:dPt>
          <c:dPt>
            <c:idx val="13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0F88-E041-A339-2F33DD963E12}"/>
              </c:ext>
            </c:extLst>
          </c:dPt>
          <c:dPt>
            <c:idx val="14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0F88-E041-A339-2F33DD963E12}"/>
              </c:ext>
            </c:extLst>
          </c:dPt>
          <c:dPt>
            <c:idx val="15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0F88-E041-A339-2F33DD963E12}"/>
              </c:ext>
            </c:extLst>
          </c:dPt>
          <c:dPt>
            <c:idx val="16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0F88-E041-A339-2F33DD963E12}"/>
              </c:ext>
            </c:extLst>
          </c:dPt>
          <c:dPt>
            <c:idx val="17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0F88-E041-A339-2F33DD963E12}"/>
              </c:ext>
            </c:extLst>
          </c:dPt>
          <c:dPt>
            <c:idx val="18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0F88-E041-A339-2F33DD963E12}"/>
              </c:ext>
            </c:extLst>
          </c:dPt>
          <c:dPt>
            <c:idx val="19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0F88-E041-A339-2F33DD963E12}"/>
              </c:ext>
            </c:extLst>
          </c:dPt>
          <c:dPt>
            <c:idx val="20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0F88-E041-A339-2F33DD963E12}"/>
              </c:ext>
            </c:extLst>
          </c:dPt>
          <c:dPt>
            <c:idx val="2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B-0F88-E041-A339-2F33DD963E12}"/>
              </c:ext>
            </c:extLst>
          </c:dPt>
          <c:dPt>
            <c:idx val="22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D-0F88-E041-A339-2F33DD963E1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Sheet1!$A$2:$A$24</c:f>
              <c:strCache>
                <c:ptCount val="23"/>
                <c:pt idx="0">
                  <c:v>Aditi</c:v>
                </c:pt>
                <c:pt idx="1">
                  <c:v>Kriti</c:v>
                </c:pt>
                <c:pt idx="2">
                  <c:v>Harshit</c:v>
                </c:pt>
                <c:pt idx="3">
                  <c:v>Chahat</c:v>
                </c:pt>
                <c:pt idx="4">
                  <c:v>Ramandeep</c:v>
                </c:pt>
                <c:pt idx="5">
                  <c:v>Isha</c:v>
                </c:pt>
                <c:pt idx="6">
                  <c:v>Simran</c:v>
                </c:pt>
                <c:pt idx="7">
                  <c:v>Shashi</c:v>
                </c:pt>
                <c:pt idx="8">
                  <c:v>Theodore</c:v>
                </c:pt>
                <c:pt idx="9">
                  <c:v>Ritika</c:v>
                </c:pt>
                <c:pt idx="10">
                  <c:v>Ivan</c:v>
                </c:pt>
                <c:pt idx="11">
                  <c:v>Vishavjeet</c:v>
                </c:pt>
                <c:pt idx="12">
                  <c:v>Rishab</c:v>
                </c:pt>
                <c:pt idx="13">
                  <c:v>Viraj</c:v>
                </c:pt>
                <c:pt idx="14">
                  <c:v>Jasleen</c:v>
                </c:pt>
                <c:pt idx="15">
                  <c:v>Navdeep</c:v>
                </c:pt>
                <c:pt idx="16">
                  <c:v>Jaskirat</c:v>
                </c:pt>
                <c:pt idx="17">
                  <c:v>Ishmeet</c:v>
                </c:pt>
                <c:pt idx="18">
                  <c:v>Rehmaan</c:v>
                </c:pt>
                <c:pt idx="19">
                  <c:v>Uzair</c:v>
                </c:pt>
                <c:pt idx="20">
                  <c:v>Kabir</c:v>
                </c:pt>
                <c:pt idx="21">
                  <c:v>Master</c:v>
                </c:pt>
                <c:pt idx="22">
                  <c:v>Krishh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1</c:v>
                </c:pt>
                <c:pt idx="1">
                  <c:v>5</c:v>
                </c:pt>
                <c:pt idx="2">
                  <c:v>5</c:v>
                </c:pt>
                <c:pt idx="3">
                  <c:v>1</c:v>
                </c:pt>
                <c:pt idx="4">
                  <c:v>3</c:v>
                </c:pt>
                <c:pt idx="5">
                  <c:v>5</c:v>
                </c:pt>
                <c:pt idx="6">
                  <c:v>3</c:v>
                </c:pt>
                <c:pt idx="7">
                  <c:v>23</c:v>
                </c:pt>
                <c:pt idx="8">
                  <c:v>2</c:v>
                </c:pt>
                <c:pt idx="9">
                  <c:v>4</c:v>
                </c:pt>
                <c:pt idx="10">
                  <c:v>3</c:v>
                </c:pt>
                <c:pt idx="11">
                  <c:v>1</c:v>
                </c:pt>
                <c:pt idx="12">
                  <c:v>1</c:v>
                </c:pt>
                <c:pt idx="13">
                  <c:v>6</c:v>
                </c:pt>
                <c:pt idx="14">
                  <c:v>1.5</c:v>
                </c:pt>
                <c:pt idx="15">
                  <c:v>4</c:v>
                </c:pt>
                <c:pt idx="16">
                  <c:v>12</c:v>
                </c:pt>
                <c:pt idx="17">
                  <c:v>3</c:v>
                </c:pt>
                <c:pt idx="18">
                  <c:v>20</c:v>
                </c:pt>
                <c:pt idx="19">
                  <c:v>3</c:v>
                </c:pt>
                <c:pt idx="20">
                  <c:v>5</c:v>
                </c:pt>
                <c:pt idx="21">
                  <c:v>13</c:v>
                </c:pt>
                <c:pt idx="2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E-0F88-E041-A339-2F33DD963E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D0D8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Experience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357-5947-81B4-A56BF69083B7}"/>
              </c:ext>
            </c:extLst>
          </c:dPt>
          <c:dPt>
            <c:idx val="1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57-5947-81B4-A56BF69083B7}"/>
              </c:ext>
            </c:extLst>
          </c:dPt>
          <c:dPt>
            <c:idx val="2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357-5947-81B4-A56BF69083B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Shortlisted
(≥5 yrs)</c:v>
                </c:pt>
                <c:pt idx="1">
                  <c:v>General Pool
(&lt;5 yrs)</c:v>
                </c:pt>
                <c:pt idx="2">
                  <c:v>Overall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11.6</c:v>
                </c:pt>
                <c:pt idx="1">
                  <c:v>2.2999999999999998</c:v>
                </c:pt>
                <c:pt idx="2">
                  <c:v>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357-5947-81B4-A56BF69083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B2B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914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9A7"/>
                </a:solidFill>
              </a:rPr>
              <a:t>AI AUTOMATION &amp; APPLICATIONS OF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AI-Powered HR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Recruitment Automation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11480" y="2880360"/>
            <a:ext cx="4572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BEC5"/>
                </a:solidFill>
              </a:rPr>
              <a:t>Simple HR Recruitment Workflow using n8n + Power BI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MBA Programme  |  AI Automation &amp; Applications of AI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47FAB-E698-6396-8B87-2E160A91DA63}"/>
              </a:ext>
            </a:extLst>
          </p:cNvPr>
          <p:cNvSpPr txBox="1"/>
          <p:nvPr/>
        </p:nvSpPr>
        <p:spPr>
          <a:xfrm>
            <a:off x="5770709" y="2926080"/>
            <a:ext cx="3012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Aditi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Dwivedi 2520981505</a:t>
            </a:r>
          </a:p>
          <a:p>
            <a:r>
              <a:rPr lang="en-US" dirty="0">
                <a:solidFill>
                  <a:schemeClr val="bg1"/>
                </a:solidFill>
              </a:rPr>
              <a:t>Chahat Verma 2520981517</a:t>
            </a:r>
          </a:p>
          <a:p>
            <a:r>
              <a:rPr lang="en-US" dirty="0">
                <a:solidFill>
                  <a:schemeClr val="bg1"/>
                </a:solidFill>
              </a:rPr>
              <a:t>Isha Soni 2520981531</a:t>
            </a:r>
          </a:p>
          <a:p>
            <a:r>
              <a:rPr lang="en-US" dirty="0" err="1">
                <a:solidFill>
                  <a:schemeClr val="bg1"/>
                </a:solidFill>
              </a:rPr>
              <a:t>Vishavjeet</a:t>
            </a:r>
            <a:r>
              <a:rPr lang="en-US" dirty="0">
                <a:solidFill>
                  <a:schemeClr val="bg1"/>
                </a:solidFill>
              </a:rPr>
              <a:t> Singh 2220931506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</a:rPr>
              <a:t>Manual Recruitment is Broken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37360"/>
            <a:ext cx="91440" cy="13258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74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847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Time-Consuming Sorting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221284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HR teams spend 6–8 hours/day manually screening CVs and sorting candidates by experience.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173736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737360"/>
            <a:ext cx="91440" cy="13258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0574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847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Human Error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40680" y="221284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Manual data entry leads to misfiled applications, missed candidates, and inconsistent decisions.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65760" y="32918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291840"/>
            <a:ext cx="91440" cy="13258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118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4015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Delayed Notifications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051560" y="376732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Candidates wait days or weeks for updates — harming employer brand and candidate experience.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54880" y="32918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291840"/>
            <a:ext cx="91440" cy="13258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6118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4015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 Visibility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40680" y="376732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No real-time dashboard means hiring managers make decisions without data.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E63946"/>
                </a:solidFill>
              </a:rPr>
              <a:t>Result: HR teams lose 40% of productive time to administrative recruitment tasks.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C9A7">
              <a:alpha val="8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9A7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AI-Powered Recruitment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560320" cy="1417320"/>
          </a:xfrm>
          <a:prstGeom prst="rect">
            <a:avLst/>
          </a:prstGeom>
          <a:solidFill>
            <a:srgbClr val="1B2B3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256032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08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Google Form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3134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Candidates apply via structured form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508760"/>
            <a:ext cx="2560320" cy="1417320"/>
          </a:xfrm>
          <a:prstGeom prst="rect">
            <a:avLst/>
          </a:prstGeom>
          <a:solidFill>
            <a:srgbClr val="1B2B3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508760"/>
            <a:ext cx="256032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508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Google Sheets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3134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Data stored automatically in real-time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1508760"/>
            <a:ext cx="2560320" cy="1417320"/>
          </a:xfrm>
          <a:prstGeom prst="rect">
            <a:avLst/>
          </a:prstGeom>
          <a:solidFill>
            <a:srgbClr val="1B2B3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508760"/>
            <a:ext cx="256032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508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n8n Trigger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80760" y="23134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New row detected → workflow fires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200400"/>
            <a:ext cx="2560320" cy="1417320"/>
          </a:xfrm>
          <a:prstGeom prst="rect">
            <a:avLst/>
          </a:prstGeom>
          <a:solidFill>
            <a:srgbClr val="1B2B3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200400"/>
            <a:ext cx="256032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00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Logic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40050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Auto-categorize: Shortlisted or General Pool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54680" y="3200400"/>
            <a:ext cx="2560320" cy="1417320"/>
          </a:xfrm>
          <a:prstGeom prst="rect">
            <a:avLst/>
          </a:prstGeom>
          <a:solidFill>
            <a:srgbClr val="1B2B3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3200400"/>
            <a:ext cx="256032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3200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4612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Email Alert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46120" y="40050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HR team notified instantly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3200400"/>
            <a:ext cx="2560320" cy="1417320"/>
          </a:xfrm>
          <a:prstGeom prst="rect">
            <a:avLst/>
          </a:prstGeom>
          <a:solidFill>
            <a:srgbClr val="1B2B3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3200400"/>
            <a:ext cx="256032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3200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8076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BI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80760" y="40050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Live dashboard for data-driven hiring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CANDIDATE DATA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</a:rPr>
              <a:t>Real responses from our batch — April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96596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57276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1031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23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274320" y="27249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Total Applicants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23160" y="1634394"/>
            <a:ext cx="1965960" cy="13716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572768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23160" y="21031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10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2423160" y="27249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Shortlisted (≥5 yrs)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72000" y="1620371"/>
            <a:ext cx="1965960" cy="13716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572768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21031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13</a:t>
            </a:r>
            <a:endParaRPr lang="en-US" sz="3400" dirty="0"/>
          </a:p>
        </p:txBody>
      </p:sp>
      <p:sp>
        <p:nvSpPr>
          <p:cNvPr id="16" name="Text 11"/>
          <p:cNvSpPr/>
          <p:nvPr/>
        </p:nvSpPr>
        <p:spPr>
          <a:xfrm>
            <a:off x="4572000" y="27249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General Pool (&lt;5 yrs)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720840" y="1613686"/>
            <a:ext cx="1965960" cy="13716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572768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20840" y="21031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6.4</a:t>
            </a:r>
            <a:endParaRPr lang="en-US" sz="3400" dirty="0"/>
          </a:p>
        </p:txBody>
      </p:sp>
      <p:sp>
        <p:nvSpPr>
          <p:cNvPr id="20" name="Text 14"/>
          <p:cNvSpPr/>
          <p:nvPr/>
        </p:nvSpPr>
        <p:spPr>
          <a:xfrm>
            <a:off x="6720840" y="27249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Avg. Years Experience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2743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Top Shortlisted Candidates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74720"/>
          <a:ext cx="4572000" cy="1661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Candidate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 (yrs)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Kriti Dwivedi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2B788"/>
                          </a:solidFill>
                        </a:rPr>
                        <a:t>✓ Shortlisted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Harshit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2B788"/>
                          </a:solidFill>
                        </a:rPr>
                        <a:t>✓ Shortlisted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Isha Soni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2B788"/>
                          </a:solidFill>
                        </a:rPr>
                        <a:t>✓ Shortlisted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Shashi Prabha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23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2B788"/>
                          </a:solidFill>
                        </a:rPr>
                        <a:t>✓ Shortlisted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Viraj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2B788"/>
                          </a:solidFill>
                        </a:rPr>
                        <a:t>✓ Shortlisted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Jaskirat Singh Rangi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2B788"/>
                          </a:solidFill>
                        </a:rPr>
                        <a:t>✓ Shortlisted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Text 16"/>
          <p:cNvSpPr/>
          <p:nvPr/>
        </p:nvSpPr>
        <p:spPr>
          <a:xfrm>
            <a:off x="512064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Shortlisted vs General Pool</a:t>
            </a:r>
            <a:endParaRPr lang="en-US" sz="11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5120640" y="3429000"/>
          <a:ext cx="374904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076294-8189-F89C-45AD-9E206410E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24"/>
            <a:ext cx="9529592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82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90AC50-3749-10C9-3CA4-D484E83BD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460"/>
            <a:ext cx="9639488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37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9AEE-4B3A-F108-72ED-599D397E9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235" y="0"/>
            <a:ext cx="252353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64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</a:rPr>
              <a:t>THE n8n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508760" cy="1554480"/>
          </a:xfrm>
          <a:prstGeom prst="rect">
            <a:avLst/>
          </a:prstGeom>
          <a:solidFill>
            <a:srgbClr val="1B2B3A"/>
          </a:solidFill>
          <a:ln w="19050">
            <a:solidFill>
              <a:srgbClr val="00C9A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148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Google Sheets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Trigger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26791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</a:rPr>
              <a:t>Fires on new row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1783080" y="2240280"/>
            <a:ext cx="2286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84248" y="21671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011680" y="1463040"/>
            <a:ext cx="1508760" cy="1554480"/>
          </a:xfrm>
          <a:prstGeom prst="rect">
            <a:avLst/>
          </a:prstGeom>
          <a:solidFill>
            <a:srgbClr val="1B2B3A"/>
          </a:solidFill>
          <a:ln w="19050">
            <a:solidFill>
              <a:srgbClr val="00C9A7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6002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0" y="2148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IF Node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Experience ≥ 5?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011680" y="26791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</a:rPr>
              <a:t>Branching logic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3520440" y="2240280"/>
            <a:ext cx="2286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21608" y="21671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749040" y="1463040"/>
            <a:ext cx="1508760" cy="1554480"/>
          </a:xfrm>
          <a:prstGeom prst="rect">
            <a:avLst/>
          </a:prstGeom>
          <a:solidFill>
            <a:srgbClr val="1B2B3A"/>
          </a:solidFill>
          <a:ln w="19050">
            <a:solidFill>
              <a:srgbClr val="00C9A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6002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49040" y="2148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Label Node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Shortlist / Pool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749040" y="26791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</a:rPr>
              <a:t>Auto-categorize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5257800" y="2240280"/>
            <a:ext cx="2286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58968" y="21671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</a:rPr>
              <a:t>▶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5486400" y="1463040"/>
            <a:ext cx="1508760" cy="1554480"/>
          </a:xfrm>
          <a:prstGeom prst="rect">
            <a:avLst/>
          </a:prstGeom>
          <a:solidFill>
            <a:srgbClr val="1B2B3A"/>
          </a:solidFill>
          <a:ln w="19050">
            <a:solidFill>
              <a:srgbClr val="00C9A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160020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2148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Email Node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Notify HR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486400" y="26791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</a:rPr>
              <a:t>Instant alert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6995160" y="2240280"/>
            <a:ext cx="2286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196328" y="21671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9A7"/>
                </a:solidFill>
              </a:rPr>
              <a:t>▶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7223760" y="1463040"/>
            <a:ext cx="1508760" cy="1554480"/>
          </a:xfrm>
          <a:prstGeom prst="rect">
            <a:avLst/>
          </a:prstGeom>
          <a:solidFill>
            <a:srgbClr val="1B2B3A"/>
          </a:solidFill>
          <a:ln w="19050">
            <a:solidFill>
              <a:srgbClr val="00C9A7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1600200"/>
            <a:ext cx="502920" cy="5029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23760" y="2148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Write Node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Update Sheet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7223760" y="26791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</a:rPr>
              <a:t>Status updated</a:t>
            </a:r>
            <a:endParaRPr lang="en-US" sz="750" dirty="0"/>
          </a:p>
        </p:txBody>
      </p:sp>
      <p:sp>
        <p:nvSpPr>
          <p:cNvPr id="32" name="Shape 25"/>
          <p:cNvSpPr/>
          <p:nvPr/>
        </p:nvSpPr>
        <p:spPr>
          <a:xfrm>
            <a:off x="274320" y="3337560"/>
            <a:ext cx="8595360" cy="777240"/>
          </a:xfrm>
          <a:prstGeom prst="rect">
            <a:avLst/>
          </a:prstGeom>
          <a:solidFill>
            <a:srgbClr val="1B2B3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5720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</a:rPr>
              <a:t>SHORTLIST RULE: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2468880" y="3429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Candidates with ≥ 5 Years of Experience → Shortlisted   |   &lt; 5 Years → General Pool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27432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Key Workflow Facts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3–4 nodes only — simple, maintainable workflow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Triggers in real-time — no manual polling needed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100% automated — zero HR intervention required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Scalable to 1,000+ applicants per batch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3–4 nodes only — simple, maintainable workflow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Triggers in real-time — no manual polling needed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100% automated — zero HR intervention required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Scalable to 1,000+ applicants per batch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4249CC-27AD-BC6A-83F1-0FF87105A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"/>
            <a:ext cx="9144000" cy="500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595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CATEGORIZATION RESULTS — BATCH APRIL 2026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5156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572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Green = Shortlisted (≥5 yrs)   |   Grey = General Pool (&lt;5 yrs)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6072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Skills in Applicant Pool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60720" y="1508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MS Excel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766560" y="1554480"/>
            <a:ext cx="2743200" cy="228600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0" y="1554480"/>
            <a:ext cx="2743200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5548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20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6072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Power BI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766560" y="2057400"/>
            <a:ext cx="2743200" cy="228600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2057400"/>
            <a:ext cx="1920240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3252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14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760720" y="2514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Tableau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766560" y="2560320"/>
            <a:ext cx="2743200" cy="228600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66560" y="2560320"/>
            <a:ext cx="2194560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0684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16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760720" y="3017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n8n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66560" y="3063240"/>
            <a:ext cx="2743200" cy="228600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66560" y="3063240"/>
            <a:ext cx="1234440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9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760720" y="3520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AI Agents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766560" y="3566160"/>
            <a:ext cx="2743200" cy="228600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66560" y="3566160"/>
            <a:ext cx="1097280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0956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8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760720" y="40233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Flowwise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766560" y="4069080"/>
            <a:ext cx="2743200" cy="228600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766560" y="4069080"/>
            <a:ext cx="685800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5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669280" y="4572000"/>
            <a:ext cx="32918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0" y="4572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43% Shortlisted  |  57% General Pool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</a:rPr>
              <a:t>POWER BI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0" y="274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D1B2A"/>
                </a:solidFill>
              </a:rPr>
              <a:t>Data-Driven Hiring Decisions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20240" cy="914400"/>
          </a:xfrm>
          <a:prstGeom prst="rect">
            <a:avLst/>
          </a:prstGeom>
          <a:solidFill>
            <a:srgbClr val="1B2B3A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</a:rPr>
              <a:t>23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Total Applicants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1051560"/>
            <a:ext cx="1920240" cy="914400"/>
          </a:xfrm>
          <a:prstGeom prst="rect">
            <a:avLst/>
          </a:prstGeom>
          <a:solidFill>
            <a:srgbClr val="1A4731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</a:rPr>
              <a:t>10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2316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Shortlisted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1920240" cy="914400"/>
          </a:xfrm>
          <a:prstGeom prst="rect">
            <a:avLst/>
          </a:prstGeom>
          <a:solidFill>
            <a:srgbClr val="2A3A4A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</a:rPr>
              <a:t>13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General Pool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1051560"/>
            <a:ext cx="1920240" cy="914400"/>
          </a:xfrm>
          <a:prstGeom prst="rect">
            <a:avLst/>
          </a:prstGeom>
          <a:solidFill>
            <a:srgbClr val="2A2A1A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</a:rPr>
              <a:t>6.4 yrs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2084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Avg Experience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Recruitment Funnel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3200400" cy="438912"/>
          </a:xfrm>
          <a:prstGeom prst="rect">
            <a:avLst/>
          </a:prstGeom>
          <a:solidFill>
            <a:srgbClr val="3A6B5A"/>
          </a:solidFill>
          <a:ln w="12700">
            <a:solidFill>
              <a:srgbClr val="3A6B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1460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Applications Received  (23)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044952"/>
            <a:ext cx="3200400" cy="438912"/>
          </a:xfrm>
          <a:prstGeom prst="rect">
            <a:avLst/>
          </a:prstGeom>
          <a:solidFill>
            <a:srgbClr val="2A5A48"/>
          </a:solidFill>
          <a:ln w="12700">
            <a:solidFill>
              <a:srgbClr val="2A5A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4495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Reviewed by n8n  (23)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79576" y="3575304"/>
            <a:ext cx="1389888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9576" y="3575304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Shortlisted (≥5 yrs)  (10)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82980" y="4105656"/>
            <a:ext cx="1783080" cy="43891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980" y="4105656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General Pool  (13)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Avg Exp by Category</a:t>
            </a:r>
            <a:endParaRPr lang="en-US" sz="12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4572000" y="2514600"/>
          <a:ext cx="42062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2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</a:rPr>
              <a:t>Connected live via Google Sheets → Power BI refresh — real-time hiring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462ADB-C7EE-9558-40B4-4D21B8BF8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58800"/>
            <a:ext cx="7315200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9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TIME SAVINGS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Manual vs. Automated Recruitment — Time Comparison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8595360" cy="16611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Manual Process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With n8n Automation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Saved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Reviewing each CV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5–8 min/CV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 min (automated)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2B788"/>
                          </a:solidFill>
                        </a:rPr>
                        <a:t>~5–8 min/CV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Sorting 23 applicants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2–3 hours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&lt; 30 seconds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2B788"/>
                          </a:solidFill>
                        </a:rPr>
                        <a:t>~2.5 hours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Updating spreadsheet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1–2 hrs/day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Instant (real-time)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2B788"/>
                          </a:solidFill>
                        </a:rPr>
                        <a:t>~1.5 hrs/day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Sending notifications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30–60 min/day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0 min (auto-email)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2B788"/>
                          </a:solidFill>
                        </a:rPr>
                        <a:t>~45 min/day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Generating HR report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2–4 hrs/week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Live Power BI dashboard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2B788"/>
                          </a:solidFill>
                        </a:rPr>
                        <a:t>~3 hrs/week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(per 23 applicants)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~8–10 hours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&lt; 5 minutes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~97% reduction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434840"/>
            <a:ext cx="41148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434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⏱  8–10 hours  →  under 5 minutes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0" y="4434840"/>
            <a:ext cx="429768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6"/>
          <p:cNvSpPr/>
          <p:nvPr/>
        </p:nvSpPr>
        <p:spPr>
          <a:xfrm>
            <a:off x="4572000" y="44348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97% reduction in screening time per batch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</a:rPr>
              <a:t>COST SAVINGS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48640"/>
          </a:xfrm>
          <a:prstGeom prst="rect">
            <a:avLst/>
          </a:prstGeom>
          <a:solidFill>
            <a:srgbClr val="1B2B3A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0BEC5"/>
                </a:solidFill>
              </a:rPr>
              <a:t>Assumptions: HR Manager salary ₹8 LPA (₹42/min) | 4 hiring cycles/year | 100 applicants/cycle | 10 HR hours/cycle saved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45920"/>
          <a:ext cx="8595360" cy="1219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Period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0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Manual Cost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0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Automated Cost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0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Cost Saved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0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Saving 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Per Hiring Cycle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₹25,200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₹2,100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B703"/>
                          </a:solidFill>
                        </a:rPr>
                        <a:t>₹23,100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2B788"/>
                          </a:solidFill>
                        </a:rPr>
                        <a:t>92%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Year 1 (4 cycles)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₹1,00,800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₹8,400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B703"/>
                          </a:solidFill>
                        </a:rPr>
                        <a:t>₹92,400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2B788"/>
                          </a:solidFill>
                        </a:rPr>
                        <a:t>92%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₹3,02,400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₹25,200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B703"/>
                          </a:solidFill>
                        </a:rPr>
                        <a:t>₹2,77,200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2B788"/>
                          </a:solidFill>
                        </a:rPr>
                        <a:t>92%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₹5,04,000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₹42,000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703"/>
                          </a:solidFill>
                        </a:rPr>
                        <a:t>₹4,62,000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2B788"/>
                          </a:solidFill>
                        </a:rPr>
                        <a:t>92%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251960"/>
            <a:ext cx="2606040" cy="7315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2793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₹4.62L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4663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5-Year Cost Savings</a:t>
            </a:r>
            <a:endParaRPr lang="en-US" sz="900" dirty="0"/>
          </a:p>
        </p:txBody>
      </p:sp>
      <p:sp>
        <p:nvSpPr>
          <p:cNvPr id="6" name="Shape 7"/>
          <p:cNvSpPr/>
          <p:nvPr/>
        </p:nvSpPr>
        <p:spPr>
          <a:xfrm>
            <a:off x="3154680" y="4251960"/>
            <a:ext cx="2606040" cy="731520"/>
          </a:xfrm>
          <a:prstGeom prst="rect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42793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~2x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154680" y="4663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ROI on Automation Cost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4251960"/>
            <a:ext cx="2606040" cy="7315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42793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92%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035040" y="4663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Reduction in HR Admin Cost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BUSINESS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What AI Automation Really Changes for HR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26517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179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15179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Faster Time-to-Hire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18562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Average recruitment cycle drops from 30–45 days to 10–15 days. First shortlist ready within minutes of application deadline.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74320" y="2697480"/>
            <a:ext cx="265176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2697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B788"/>
                </a:solidFill>
              </a:rPr>
              <a:t>−60% hiring time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54680" y="14630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463040"/>
            <a:ext cx="26517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51790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8728" y="15179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Higher Quality Hires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246120" y="18562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Consistent, bias-free rule enforcement ensures only experienced candidates reach interview stage. No human error in screening.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154680" y="2697480"/>
            <a:ext cx="265176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54680" y="2697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B788"/>
                </a:solidFill>
              </a:rPr>
              <a:t>Zero screening errors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035040" y="14630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1463040"/>
            <a:ext cx="26517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51790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19088" y="15179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Improved Candidate Experience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126480" y="18562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Automated emails confirm receipt and status instantly. 78% of candidates prefer companies that communicate quickly (LinkedIn, 2024).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035040" y="2697480"/>
            <a:ext cx="265176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035040" y="2697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B788"/>
                </a:solidFill>
              </a:rPr>
              <a:t>78% prefer fast response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274320" y="32004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74320" y="3200400"/>
            <a:ext cx="26517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255264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58368" y="32552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HR Team Refocused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365760" y="35935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HR shifts from administrative work to strategic activities — culture building, interviews, and onboarding. Higher-value work.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274320" y="4434840"/>
            <a:ext cx="265176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74320" y="4434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B788"/>
                </a:solidFill>
              </a:rPr>
              <a:t>40% more strategic time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154680" y="32004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154680" y="3200400"/>
            <a:ext cx="26517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3255264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538728" y="32552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Data-Driven Decisions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3246120" y="35935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Power BI dashboard gives management real-time visibility into the pipeline — no more 'gut feel' hiring decisions.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3154680" y="4434840"/>
            <a:ext cx="265176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154680" y="4434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B788"/>
                </a:solidFill>
              </a:rPr>
              <a:t>100% data-backed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035040" y="32004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035040" y="3200400"/>
            <a:ext cx="26517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255264"/>
            <a:ext cx="256032" cy="25603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419088" y="32552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Scalable for Growth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6126480" y="35935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The same n8n workflow handles 23 or 2,300 applicants without additional HR headcount. Built to scale.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6035040" y="4434840"/>
            <a:ext cx="265176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6035040" y="4434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B788"/>
                </a:solidFill>
              </a:rPr>
              <a:t>0 marginal cost to scale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BEFORE VS. AFTER AUTOMATION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  BEFORE — Manual Process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</a:rPr>
              <a:t>HR manually reads every CV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</a:rPr>
              <a:t>Data entered into Excel by hand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</a:rPr>
              <a:t>Errors in categorisation common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</a:rPr>
              <a:t>Notifications sent manually (batch)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</a:rPr>
              <a:t>No real-time dashboard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</a:rPr>
              <a:t>8–10 hours per hiring cycle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</a:rPr>
              <a:t>₹25,200 cost per cycle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</a:rPr>
              <a:t>Decisions based on intuition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02336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AFTER — n8n + Power BI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C9A7"/>
                </a:solidFill>
              </a:rPr>
              <a:t>n8n reads &amp; categorises automatically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C9A7"/>
                </a:solidFill>
              </a:rPr>
              <a:t>Google Sheets updated in real-time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C9A7"/>
                </a:solidFill>
              </a:rPr>
              <a:t>Rule-based: 100% consistent decisions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C9A7"/>
                </a:solidFill>
              </a:rPr>
              <a:t>Email sent instantly on application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C9A7"/>
                </a:solidFill>
              </a:rPr>
              <a:t>Live Power BI dashboard always-on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C9A7"/>
                </a:solidFill>
              </a:rPr>
              <a:t>&lt; 5 minutes per hiring cycle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C9A7"/>
                </a:solidFill>
              </a:rPr>
              <a:t>₹2,100 cost per cycle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C9A7"/>
                </a:solidFill>
              </a:rPr>
              <a:t>Decisions backed by live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005840"/>
            <a:ext cx="0" cy="384048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9A7"/>
                </a:solidFill>
              </a:rPr>
              <a:t>Same outcome. Fraction of the time. A fraction of the cost. Zero human error.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9A7"/>
                </a:solidFill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AI Automation Transforms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Recruitment — Permanently.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4572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2140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10312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97% reduction in screening time — from 8–10 hrs to &lt; 5 mins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65176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263347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₹4.62 lakh saved over 5 years — at zero additional headcount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8211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" y="3163824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Consistent, bias-free shortlisting using ≥5 year experience rule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71246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369417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Real-time Power BI dashboard enables data-driven hiring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242816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4672" y="422452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Scalable: same workflow works for 23 or 2,300 applicants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</a:rPr>
              <a:t>Module: AI Automation &amp; Applications of AI  |  MBA Programme  |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1096</Words>
  <Application>Microsoft Macintosh PowerPoint</Application>
  <PresentationFormat>On-screen Show (16:9)</PresentationFormat>
  <Paragraphs>265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HR Recruitment Automation</dc:title>
  <dc:subject>PptxGenJS Presentation</dc:subject>
  <dc:creator>PptxGenJS</dc:creator>
  <cp:lastModifiedBy>Aditi Dwivedi</cp:lastModifiedBy>
  <cp:revision>2</cp:revision>
  <dcterms:created xsi:type="dcterms:W3CDTF">2026-04-02T04:26:11Z</dcterms:created>
  <dcterms:modified xsi:type="dcterms:W3CDTF">2026-04-02T04:37:30Z</dcterms:modified>
</cp:coreProperties>
</file>